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AI PRODUCT CASE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6181F"/>
                </a:solidFill>
                <a:latin typeface="Calibri"/>
              </a:rPr>
              <a:t>Postmeet</a:t>
            </a:r>
            <a:r>
              <a:rPr sz="5400" b="1">
                <a:solidFill>
                  <a:srgbClr val="C2410C"/>
                </a:solidFill>
                <a:latin typeface="Calibri"/>
              </a:rPr>
              <a:t>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6181F"/>
                </a:solidFill>
                <a:latin typeface="Calibri"/>
              </a:rPr>
              <a:t>The last mile of meetings.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8778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A616E"/>
                </a:solidFill>
                <a:latin typeface="Calibri"/>
              </a:rPr>
              <a:t>Every meeting produces commitments. Most of them evaporate. Postmeet turns a raw transcript into distributed, owned action — in about five seconds, with zero setup.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500" b="0">
                <a:solidFill>
                  <a:srgbClr val="5A616E"/>
                </a:solidFill>
                <a:latin typeface="Calibri"/>
              </a:rPr>
              <a:t>   ·   AI Product Manager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8B919D"/>
                </a:solidFill>
                <a:latin typeface="Consolas"/>
              </a:rPr>
              <a:t>Live demo: postmeet.onrender.com      Repo: github.com/Shubham-33/postmeet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—  SEE IT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6181F"/>
                </a:solidFill>
                <a:latin typeface="Calibri"/>
              </a:rPr>
              <a:t>Paste a transcript → the board writes itself.</a:t>
            </a:r>
          </a:p>
        </p:txBody>
      </p:sp>
      <p:pic>
        <p:nvPicPr>
          <p:cNvPr id="6" name="Picture 5" descr="postmeet-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3488" y="1645920"/>
            <a:ext cx="6164719" cy="4709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013488" y="1645920"/>
            <a:ext cx="6164718" cy="4709160"/>
          </a:xfrm>
          <a:prstGeom prst="rect">
            <a:avLst/>
          </a:prstGeom>
          <a:noFill/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B919D"/>
                </a:solidFill>
                <a:latin typeface="Calibri"/>
              </a:rPr>
              <a:t>Real output from the live app — extracted in ~2.8s: summary, decisions, and one column per owner, each card one click from a prefilled Calendar event or Gmail draft.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01 · 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Paste a meeting → get owned action → distribute in one click.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Drop it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Paste a transcript, a public Google Doc URL, or a file. No account.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EXTRACT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AI structures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Summary, decisions, and action items — each with owner, email, due date, context.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331720"/>
            <a:ext cx="3429000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2752" y="251460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DISTRIBUTE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2752" y="28803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6181F"/>
                </a:solidFill>
                <a:latin typeface="Calibri"/>
              </a:rPr>
              <a:t>One-click send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3383280"/>
            <a:ext cx="2971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Each item opens a prefilled Google Calendar event or Gmail draft. Just Save / Send.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617720"/>
            <a:ext cx="54864" cy="12344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681728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The “no-OAuth trick”: prefilled Calendar / Gmail URLs open in the user's already-logged-in Google. </a:t>
            </a:r>
            <a:r>
              <a:rPr sz="1800" b="1">
                <a:solidFill>
                  <a:srgbClr val="C2410C"/>
                </a:solidFill>
                <a:latin typeface="Calibri"/>
              </a:rPr>
              <a:t>Time-to-value ~10 seconds — no integration, no admin approval, no scope review.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02 ·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Meetings manufacture commitments. Then the commitments go missing.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40233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6600" b="1">
                <a:solidFill>
                  <a:srgbClr val="C2410C"/>
                </a:solidFill>
                <a:latin typeface="Calibri"/>
              </a:rPr>
              <a:t>~70%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44805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of meeting action items are never completed — they live in someone's notes, a Slack thread, a doc nobody reopens.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331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who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31343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Knowledge workers spend a huge share of the week in meetings — what matters is the follow-through, not the recording.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3383279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gap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364991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The pain isn't capturing what was said. It's doing what was decided.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44348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416552"/>
            <a:ext cx="49377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5A616E"/>
                </a:solidFill>
                <a:latin typeface="Calibri"/>
              </a:rPr>
              <a:t>Dropped commitments = re-work, missed deadlines, and eroded trust.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alibri"/>
              </a:rPr>
              <a:t>Industry estimates range ~44–73% never completed (Fellow, Streamli9). Directional — as PM, first job is to validate with first-party instrumentation before over-investing.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03 · 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Everyone is fighting over capture. The last mile is wide open.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257800" cy="21488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4871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CROWDED — “CAPTURE”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0779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Transcribe &amp; summarize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429000"/>
            <a:ext cx="47548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Otter, Fireflies, Fathom, Granola — all competing on better transcripts. Table stakes now. The commitments they surface still die in a doc.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286000"/>
            <a:ext cx="5120640" cy="214884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48716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OPEN — “THE LAST MILE”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290779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6181F"/>
                </a:solidFill>
                <a:latin typeface="Calibri"/>
              </a:rPr>
              <a:t>Distribute &amp; 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342900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A616E"/>
                </a:solidFill>
                <a:latin typeface="Calibri"/>
              </a:rPr>
              <a:t>Getting each commitment into the tool the owner actually lives in — their calendar, their inbox — is where follow-through is won or lost.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892040"/>
            <a:ext cx="54864" cy="109728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983480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6181F"/>
                </a:solidFill>
                <a:latin typeface="Calibri"/>
              </a:rPr>
              <a:t>The blocker on the last mile isn't a smarter model — it's </a:t>
            </a:r>
            <a:r>
              <a:rPr sz="2100" b="1">
                <a:solidFill>
                  <a:srgbClr val="C2410C"/>
                </a:solidFill>
                <a:latin typeface="Calibri"/>
              </a:rPr>
              <a:t>setup friction</a:t>
            </a:r>
            <a:r>
              <a:rPr sz="2100" b="0">
                <a:solidFill>
                  <a:srgbClr val="16181F"/>
                </a:solidFill>
                <a:latin typeface="Calibri"/>
              </a:rPr>
              <a:t>. So the wedge is zero-setup distribution.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04 · THE AI 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Reliable structure out of an unreliable medium.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onsolas"/>
              </a:rPr>
              <a:t>transcript  →  </a:t>
            </a:r>
            <a:r>
              <a:rPr sz="1300" b="1">
                <a:solidFill>
                  <a:srgbClr val="C2410C"/>
                </a:solidFill>
                <a:latin typeface="Consolas"/>
              </a:rPr>
              <a:t>LLM · JSON mode</a:t>
            </a:r>
            <a:r>
              <a:rPr sz="1300" b="0">
                <a:solidFill>
                  <a:srgbClr val="5A616E"/>
                </a:solidFill>
                <a:latin typeface="Consolas"/>
              </a:rPr>
              <a:t>  →  schema-validated JSON  →  board + prefilled links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Structured output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fixed JSON contract (summary / decisions / action items), pinned in the system prompt and decoded by a tolerant parser. One call, no retry loop.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9087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Guardrails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9087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Extracts only explicit commitments — no invented tasks. Empty fields when data is absent. The difference between useful and hallucinated.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288036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310896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6181F"/>
                </a:solidFill>
                <a:latin typeface="Calibri"/>
              </a:rPr>
              <a:t>Graceful degradation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657600"/>
            <a:ext cx="2971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A model fallback chain: if the primary is cold or errors, it drops to a backup so the request still succeeds.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05 · THE DEFINING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I shipped the smaller model on 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919D"/>
                </a:solidFill>
                <a:latin typeface="Consolas"/>
              </a:rPr>
              <a:t>REJECTED AS PRIMARY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70B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9s–46s, inconsistent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cold-starts, timeouts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marginally higher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194560"/>
            <a:ext cx="5120640" cy="196596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23774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SHIPPED AS PRIMARY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724912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6181F"/>
                </a:solidFill>
                <a:latin typeface="Consolas"/>
              </a:rPr>
              <a:t>Llama 3.1 8B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59" y="3291840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latency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3291840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~2.5s, consistent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59" y="3602736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reliability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1000" y="3602736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steady across runs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59" y="3913632"/>
            <a:ext cx="1463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8B919D"/>
                </a:solidFill>
                <a:latin typeface="Consolas"/>
              </a:rPr>
              <a:t>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13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6181F"/>
                </a:solidFill>
                <a:latin typeface="Calibri"/>
              </a:rPr>
              <a:t>comparable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617720"/>
            <a:ext cx="54864" cy="137160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681728"/>
            <a:ext cx="102412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6181F"/>
                </a:solidFill>
                <a:latin typeface="Calibri"/>
              </a:rPr>
              <a:t>Model quality is an </a:t>
            </a:r>
            <a:r>
              <a:rPr sz="1800" b="1">
                <a:solidFill>
                  <a:srgbClr val="C2410C"/>
                </a:solidFill>
                <a:latin typeface="Calibri"/>
              </a:rPr>
              <a:t>input</a:t>
            </a:r>
            <a:r>
              <a:rPr sz="1800" b="0">
                <a:solidFill>
                  <a:srgbClr val="16181F"/>
                </a:solidFill>
                <a:latin typeface="Calibri"/>
              </a:rPr>
              <a:t> to product value, not the goal. A demo that always works in two seconds beats a “smarter” one that sometimes hangs — reliability builds trust faster than marginal accuracy.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06 · HOW I'D MEASURE SUCCESS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One north star, a funnel beneath it, guardrails around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94560"/>
            <a:ext cx="10561320" cy="1143000"/>
          </a:xfrm>
          <a:prstGeom prst="roundRect">
            <a:avLst>
              <a:gd name="adj" fmla="val 4500"/>
            </a:avLst>
          </a:prstGeom>
          <a:solidFill>
            <a:srgbClr val="FBEFEA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3317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NORTH-STAR 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6181F"/>
                </a:solidFill>
                <a:latin typeface="Calibri"/>
              </a:rPr>
              <a:t>Commitment Completion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90672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Of the action items surfaced, what share actually get done? Everything else is a proxy.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1188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INPUT METRICS — THE FUNNEL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977639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Activation: % sessions that extract → distribute ≥1 item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361688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Time-to-value: seconds paste → first send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45736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Extraction quality: precision / recall vs. eval set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29783"/>
            <a:ext cx="5669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Retention: repeat use /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6118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B919D"/>
                </a:solidFill>
                <a:latin typeface="Consolas"/>
              </a:rPr>
              <a:t>GUARDRAIL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977639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Hallucination rate (invented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361688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Edit rate (proxy for accuracy)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745736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C2410C"/>
                </a:solidFill>
                <a:latin typeface="Calibri"/>
              </a:rPr>
              <a:t>•  </a:t>
            </a:r>
            <a:r>
              <a:rPr sz="1350" b="0">
                <a:solidFill>
                  <a:srgbClr val="5A616E"/>
                </a:solidFill>
                <a:latin typeface="Calibri"/>
              </a:rPr>
              <a:t>Error / failure rate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07 · MAKING AI DECISIONS RIGOROUSLY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Vibes don't scale. Evals 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7744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35915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Build a golden eval set: labelled transcripts with the “true” decisions and action items.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345643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Measure precision (did we invent tasks?), recall (did we miss commitments?), and field accuracy.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5720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4553712"/>
            <a:ext cx="4480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16E"/>
                </a:solidFill>
                <a:latin typeface="Calibri"/>
              </a:rPr>
              <a:t>That's how I'd choose 8B vs 70B, catch regressions, and set a launch quality bar — not by gut.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331720"/>
            <a:ext cx="4846320" cy="32004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12280" y="2542032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THE COMPOUNDING LOOP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907792"/>
            <a:ext cx="4297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6181F"/>
                </a:solidFill>
                <a:latin typeface="Calibri"/>
              </a:rPr>
              <a:t>Every edit is a label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47472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A616E"/>
                </a:solidFill>
                <a:latin typeface="Calibri"/>
              </a:rPr>
              <a:t>Users correct the extracted items before sending. Those corrections are free, in-domain training data → fine-tune on accepted output → org-specific accuracy competitors can't match without the same data. The eval loop becomes the moat.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08 ·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What I deliberately left out — and why that's the point.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5A616E"/>
                </a:solidFill>
                <a:latin typeface="Calibri"/>
              </a:rPr>
              <a:t>MVP scope is a hypothesis test, not a feature checklist. I cut everything not needed to validate one thing: will people extract, then actually distribute?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No database. A refresh clears everything — and “no data stored” removes privacy friction for testers.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260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9672" y="30906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REAL INTEGRATIONS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9672" y="34290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The URL-prefill trick proves value without OAuth. Real APIs are a scaling investment, made once the loop is proven.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CUT · ACCOUNTS &amp; TEAMS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Single-session, no login. Multi-user is a growth concern, not a validation one.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526280"/>
            <a:ext cx="5120640" cy="14630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19672" y="4690872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410C"/>
                </a:solidFill>
                <a:latin typeface="Consolas"/>
              </a:rPr>
              <a:t>KEPT · THE CORE LOOP + TRUST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19672" y="5029200"/>
            <a:ext cx="4617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A616E"/>
                </a:solidFill>
                <a:latin typeface="Calibri"/>
              </a:rPr>
              <a:t>Extraction reliability, one-click distribution, honest guardrails, 100%-tested logic.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09 · ROADMAP &amp; MOAT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16181F"/>
                </a:solidFill>
                <a:latin typeface="Calibri"/>
              </a:rPr>
              <a:t>From a one-click helper to the system of record for follow-through.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778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NOW · VALIDATE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The core 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Paste → extract → distribute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Zero setup, no OAuth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70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Reliable structured output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7258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NEXT · AUTO-CAPTURE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Capture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7258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Extension + AI notetaker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7258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Auto-joins Zoom / Teams / Meet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7258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Native Gmail, Outlook, Calendar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286000"/>
            <a:ext cx="3429000" cy="237744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DEE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468880"/>
            <a:ext cx="3017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410C"/>
                </a:solidFill>
                <a:latin typeface="Consolas"/>
              </a:rPr>
              <a:t>LATER · OWN THE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2816352"/>
            <a:ext cx="30175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6181F"/>
                </a:solidFill>
                <a:latin typeface="Calibri"/>
              </a:rPr>
              <a:t>Proactive follow-through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310128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Persistence + team workspaces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3730752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Nudges: “did you ship X?”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51376"/>
            <a:ext cx="3017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C2410C"/>
                </a:solidFill>
                <a:latin typeface="Calibri"/>
              </a:rPr>
              <a:t>•  </a:t>
            </a:r>
            <a:r>
              <a:rPr sz="1250" b="0">
                <a:solidFill>
                  <a:srgbClr val="5A616E"/>
                </a:solidFill>
                <a:latin typeface="Calibri"/>
              </a:rPr>
              <a:t>Completion tracking → closes the loop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37760"/>
            <a:ext cx="54864" cy="1005840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992624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6181F"/>
                </a:solidFill>
                <a:latin typeface="Calibri"/>
              </a:rPr>
              <a:t>Moat = the feedback loop. Accepted &amp; edited action items become proprietary training data → accuracy that compounds with usage.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6692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C2410C"/>
                </a:solidFill>
                <a:latin typeface="Consolas"/>
              </a:rPr>
              <a:t>10 · WHY THIS MATTERS FOR THE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6181F"/>
                </a:solidFill>
                <a:latin typeface="Calibri"/>
              </a:rPr>
              <a:t>I don't just use AI tools. I make product decisions about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Problem framing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Found the non-obvious wedge — the last mile, not capture; friction, not model size.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45152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AI judgment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5152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Model tradeoffs, evals, guardrails, graceful degradation — decisions, with reasons.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24231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Metrics rigor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67344" y="28072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north star, an input funnel, and guardrails — measurement designed in.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Prioritization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Scoped an MVP as a hypothesis test; cut with intent; shipped what de-risks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Vision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A credible path from a one-click tool to a defensible product with a data moat.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67344" y="3794760"/>
            <a:ext cx="3611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181F"/>
                </a:solidFill>
                <a:latin typeface="Calibri"/>
              </a:rPr>
              <a:t>End-to-end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178808"/>
            <a:ext cx="36118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16E"/>
                </a:solidFill>
                <a:latin typeface="Calibri"/>
              </a:rPr>
              <a:t>Built, tested (100% coverage), and deployed it solo — insight to live URL.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6181F"/>
                </a:solidFill>
                <a:latin typeface="Calibri"/>
              </a:rPr>
              <a:t>Shubham Mittal</a:t>
            </a:r>
            <a:r>
              <a:rPr sz="1250" b="0">
                <a:solidFill>
                  <a:srgbClr val="8B919D"/>
                </a:solidFill>
                <a:latin typeface="Consolas"/>
              </a:rPr>
              <a:t>   ·   postmeet.onrender.com   ·   shubham-33.github.io/postmeet/case-study/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