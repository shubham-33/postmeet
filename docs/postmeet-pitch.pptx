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C2410C"/>
                </a:solidFill>
                <a:latin typeface="Consolas"/>
              </a:rPr>
              <a:t>AI PRODUCT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16181F"/>
                </a:solidFill>
                <a:latin typeface="Calibri"/>
              </a:rPr>
              <a:t>Postmeet</a:t>
            </a:r>
            <a:r>
              <a:rPr sz="5400" b="1">
                <a:solidFill>
                  <a:srgbClr val="C2410C"/>
                </a:solidFill>
                <a:latin typeface="Calibri"/>
              </a:rPr>
              <a:t>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6181F"/>
                </a:solidFill>
                <a:latin typeface="Calibri"/>
              </a:rPr>
              <a:t>The last mile of meetings.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94760"/>
            <a:ext cx="8778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A616E"/>
                </a:solidFill>
                <a:latin typeface="Calibri"/>
              </a:rPr>
              <a:t>Every meeting produces commitments. Most of them evaporate. Postmeet turns a raw transcript into distributed, owned action — in about five seconds, with zero setup.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560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181F"/>
                </a:solidFill>
                <a:latin typeface="Calibri"/>
              </a:rPr>
              <a:t>Shubham Mittal</a:t>
            </a:r>
            <a:r>
              <a:rPr sz="1500" b="0">
                <a:solidFill>
                  <a:srgbClr val="5A616E"/>
                </a:solidFill>
                <a:latin typeface="Calibri"/>
              </a:rPr>
              <a:t>   ·   AI Product Manager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349240"/>
            <a:ext cx="5440680" cy="713232"/>
          </a:xfrm>
          <a:prstGeom prst="roundRect">
            <a:avLst>
              <a:gd name="adj" fmla="val 4500"/>
            </a:avLst>
          </a:prstGeom>
          <a:solidFill>
            <a:srgbClr val="FBEFEA"/>
          </a:solidFill>
          <a:ln w="1524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5422392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C2410C"/>
                </a:solidFill>
                <a:latin typeface="Consolas"/>
              </a:rPr>
              <a:t>🏆  Top 10 Finalist → 2nd Runner-Up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5705856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16E"/>
                </a:solidFill>
                <a:latin typeface="Consolas"/>
              </a:rPr>
              <a:t>PromptWars Chennai 2026 · Google for Developers × Hack2Skill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19963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B919D"/>
                </a:solidFill>
                <a:latin typeface="Consolas"/>
              </a:rPr>
              <a:t>Live demo: postmeet.onrender.com      Repo: github.com/Shubham-33/postmeet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C2410C"/>
                </a:solidFill>
                <a:latin typeface="Consolas"/>
              </a:rPr>
              <a:t>—  SEE IT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6181F"/>
                </a:solidFill>
                <a:latin typeface="Calibri"/>
              </a:rPr>
              <a:t>Paste a transcript → the board writes itself.</a:t>
            </a:r>
          </a:p>
        </p:txBody>
      </p:sp>
      <p:pic>
        <p:nvPicPr>
          <p:cNvPr id="6" name="Picture 5" descr="postmeet-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8999" y="1645920"/>
            <a:ext cx="7093696" cy="47091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548999" y="1645920"/>
            <a:ext cx="7093696" cy="4709160"/>
          </a:xfrm>
          <a:prstGeom prst="rect">
            <a:avLst/>
          </a:prstGeom>
          <a:noFill/>
          <a:ln w="12700">
            <a:solidFill>
              <a:srgbClr val="DE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1908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B919D"/>
                </a:solidFill>
                <a:latin typeface="Calibri"/>
              </a:rPr>
              <a:t>Real output from the live app — extracted in ~3s: summary, decisions, and one column per owner, each card one click from a prefilled Calendar event or Gmail draft.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C2410C"/>
                </a:solidFill>
                <a:latin typeface="Consolas"/>
              </a:rPr>
              <a:t>01 · THE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6181F"/>
                </a:solidFill>
                <a:latin typeface="Calibri"/>
              </a:rPr>
              <a:t>Paste a meeting → get owned action → distribute in one click.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31720"/>
            <a:ext cx="342900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E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514600"/>
            <a:ext cx="2971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2410C"/>
                </a:solidFill>
                <a:latin typeface="Consolas"/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880360"/>
            <a:ext cx="2971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6181F"/>
                </a:solidFill>
                <a:latin typeface="Calibri"/>
              </a:rPr>
              <a:t>Drop it 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3383280"/>
            <a:ext cx="2971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16E"/>
                </a:solidFill>
                <a:latin typeface="Calibri"/>
              </a:rPr>
              <a:t>Paste a transcript, a public Google Doc URL, or a file. No account.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331720"/>
            <a:ext cx="342900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E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0872" y="2514600"/>
            <a:ext cx="2971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2410C"/>
                </a:solidFill>
                <a:latin typeface="Consolas"/>
              </a:rPr>
              <a:t>EXTRACT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0872" y="2880360"/>
            <a:ext cx="2971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6181F"/>
                </a:solidFill>
                <a:latin typeface="Calibri"/>
              </a:rPr>
              <a:t>AI structures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3383280"/>
            <a:ext cx="2971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16E"/>
                </a:solidFill>
                <a:latin typeface="Calibri"/>
              </a:rPr>
              <a:t>Summary, decisions, and action items — each with owner, email, due date, context.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331720"/>
            <a:ext cx="342900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E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2514600"/>
            <a:ext cx="2971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2410C"/>
                </a:solidFill>
                <a:latin typeface="Consolas"/>
              </a:rPr>
              <a:t>DISTRIBUTE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880360"/>
            <a:ext cx="2971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6181F"/>
                </a:solidFill>
                <a:latin typeface="Calibri"/>
              </a:rPr>
              <a:t>One-click send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3383280"/>
            <a:ext cx="2971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16E"/>
                </a:solidFill>
                <a:latin typeface="Calibri"/>
              </a:rPr>
              <a:t>Each item opens a prefilled Google Calendar event or Gmail draft. Just Save / Send.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617720"/>
            <a:ext cx="54864" cy="123444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681728"/>
            <a:ext cx="102412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6181F"/>
                </a:solidFill>
                <a:latin typeface="Calibri"/>
              </a:rPr>
              <a:t>The “no-OAuth trick”: prefilled Calendar / Gmail URLs open in the user's already-logged-in Google. </a:t>
            </a:r>
            <a:r>
              <a:rPr sz="1800" b="1">
                <a:solidFill>
                  <a:srgbClr val="C2410C"/>
                </a:solidFill>
                <a:latin typeface="Calibri"/>
              </a:rPr>
              <a:t>Time-to-value ~10 seconds — no integration, no admin approval, no scope review.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C2410C"/>
                </a:solidFill>
                <a:latin typeface="Consolas"/>
              </a:rPr>
              <a:t>02 ·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6181F"/>
                </a:solidFill>
                <a:latin typeface="Calibri"/>
              </a:rPr>
              <a:t>Meetings manufacture commitments. Then the commitments go missing.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40233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6600" b="1">
                <a:solidFill>
                  <a:srgbClr val="C2410C"/>
                </a:solidFill>
                <a:latin typeface="Calibri"/>
              </a:rPr>
              <a:t>~70%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66160"/>
            <a:ext cx="44805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A616E"/>
                </a:solidFill>
                <a:latin typeface="Calibri"/>
              </a:rPr>
              <a:t>of meeting action items are never completed — they live in someone's notes, a Slack thread, a doc nobody reopens.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3317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C2410C"/>
                </a:solidFill>
                <a:latin typeface="Consolas"/>
              </a:rPr>
              <a:t>who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313432"/>
            <a:ext cx="49377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5A616E"/>
                </a:solidFill>
                <a:latin typeface="Calibri"/>
              </a:rPr>
              <a:t>Knowledge workers spend a huge share of the week in meetings — what matters is the follow-through, not the recording.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3383279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C2410C"/>
                </a:solidFill>
                <a:latin typeface="Consolas"/>
              </a:rPr>
              <a:t>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364991"/>
            <a:ext cx="49377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5A616E"/>
                </a:solidFill>
                <a:latin typeface="Calibri"/>
              </a:rPr>
              <a:t>The pain isn't capturing what was said. It's doing what was decided.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443484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C2410C"/>
                </a:solidFill>
                <a:latin typeface="Consolas"/>
              </a:rPr>
              <a:t>cost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416552"/>
            <a:ext cx="49377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5A616E"/>
                </a:solidFill>
                <a:latin typeface="Calibri"/>
              </a:rPr>
              <a:t>Dropped commitments = re-work, missed deadlines, and eroded trust.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B919D"/>
                </a:solidFill>
                <a:latin typeface="Calibri"/>
              </a:rPr>
              <a:t>Industry estimates range ~44–73% never completed (Fellow, Streamli9). Directional — as PM, first job is to validate with first-party instrumentation before over-investing.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C2410C"/>
                </a:solidFill>
                <a:latin typeface="Consolas"/>
              </a:rPr>
              <a:t>03 · THE 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6181F"/>
                </a:solidFill>
                <a:latin typeface="Calibri"/>
              </a:rPr>
              <a:t>Everyone is fighting over capture. The last mile is wide open.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5257800" cy="2148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E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487168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B919D"/>
                </a:solidFill>
                <a:latin typeface="Consolas"/>
              </a:rPr>
              <a:t>CROWDED — “CAPTURE”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07792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6181F"/>
                </a:solidFill>
                <a:latin typeface="Calibri"/>
              </a:rPr>
              <a:t>Transcribe &amp; summarize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29000"/>
            <a:ext cx="4754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A616E"/>
                </a:solidFill>
                <a:latin typeface="Calibri"/>
              </a:rPr>
              <a:t>Otter, Fireflies, Fathom, Granola — all competing on better transcripts. Table stakes now. The commitments they surface still die in a doc.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286000"/>
            <a:ext cx="5120640" cy="2148840"/>
          </a:xfrm>
          <a:prstGeom prst="roundRect">
            <a:avLst>
              <a:gd name="adj" fmla="val 4500"/>
            </a:avLst>
          </a:prstGeom>
          <a:solidFill>
            <a:srgbClr val="FBEFEA"/>
          </a:solidFill>
          <a:ln w="1778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487168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2410C"/>
                </a:solidFill>
                <a:latin typeface="Consolas"/>
              </a:rPr>
              <a:t>OPEN — “THE LAST MILE”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907792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6181F"/>
                </a:solidFill>
                <a:latin typeface="Calibri"/>
              </a:rPr>
              <a:t>Distribute &amp; 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3429000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A616E"/>
                </a:solidFill>
                <a:latin typeface="Calibri"/>
              </a:rPr>
              <a:t>Getting each commitment into the tool the owner actually lives in — their calendar, their inbox — is where follow-through is won or lost.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892040"/>
            <a:ext cx="54864" cy="109728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983480"/>
            <a:ext cx="102412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6181F"/>
                </a:solidFill>
                <a:latin typeface="Calibri"/>
              </a:rPr>
              <a:t>The blocker on the last mile isn't a smarter model — it's </a:t>
            </a:r>
            <a:r>
              <a:rPr sz="2100" b="1">
                <a:solidFill>
                  <a:srgbClr val="C2410C"/>
                </a:solidFill>
                <a:latin typeface="Calibri"/>
              </a:rPr>
              <a:t>setup friction</a:t>
            </a:r>
            <a:r>
              <a:rPr sz="2100" b="0">
                <a:solidFill>
                  <a:srgbClr val="16181F"/>
                </a:solidFill>
                <a:latin typeface="Calibri"/>
              </a:rPr>
              <a:t>. So the wedge is zero-setup distribution.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C2410C"/>
                </a:solidFill>
                <a:latin typeface="Consolas"/>
              </a:rPr>
              <a:t>04 · THE AI UNDER THE HOOD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6181F"/>
                </a:solidFill>
                <a:latin typeface="Calibri"/>
              </a:rPr>
              <a:t>Reliable structure out of an unreliable medium.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16E"/>
                </a:solidFill>
                <a:latin typeface="Consolas"/>
              </a:rPr>
              <a:t>transcript  →  </a:t>
            </a:r>
            <a:r>
              <a:rPr sz="1300" b="1">
                <a:solidFill>
                  <a:srgbClr val="C2410C"/>
                </a:solidFill>
                <a:latin typeface="Consolas"/>
              </a:rPr>
              <a:t>LLM · JSON mode</a:t>
            </a:r>
            <a:r>
              <a:rPr sz="1300" b="0">
                <a:solidFill>
                  <a:srgbClr val="5A616E"/>
                </a:solidFill>
                <a:latin typeface="Consolas"/>
              </a:rPr>
              <a:t>  →  schema-validated JSON  →  board + prefilled links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880360"/>
            <a:ext cx="3429000" cy="23774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E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3108960"/>
            <a:ext cx="2971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16181F"/>
                </a:solidFill>
                <a:latin typeface="Calibri"/>
              </a:rPr>
              <a:t>Structured 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3657600"/>
            <a:ext cx="2971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16E"/>
                </a:solidFill>
                <a:latin typeface="Calibri"/>
              </a:rPr>
              <a:t>A fixed JSON contract (summary / decisions / action items), pinned in the system prompt and decoded by a tolerant parser. One call, no retry loop.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880360"/>
            <a:ext cx="3429000" cy="23774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E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0872" y="3108960"/>
            <a:ext cx="2971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16181F"/>
                </a:solidFill>
                <a:latin typeface="Calibri"/>
              </a:rPr>
              <a:t>Guardrails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0872" y="3657600"/>
            <a:ext cx="2971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16E"/>
                </a:solidFill>
                <a:latin typeface="Calibri"/>
              </a:rPr>
              <a:t>Extracts only explicit commitments — no invented tasks. Empty fields when data is absent. The difference between useful and hallucinated.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880360"/>
            <a:ext cx="3429000" cy="23774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E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3108960"/>
            <a:ext cx="2971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16181F"/>
                </a:solidFill>
                <a:latin typeface="Calibri"/>
              </a:rPr>
              <a:t>Graceful degradation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3657600"/>
            <a:ext cx="2971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16E"/>
                </a:solidFill>
                <a:latin typeface="Calibri"/>
              </a:rPr>
              <a:t>A model fallback chain: if the primary is cold or errors, it drops to a backup so the request still succeeds.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C2410C"/>
                </a:solidFill>
                <a:latin typeface="Consolas"/>
              </a:rPr>
              <a:t>05 · THE DEFINING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6181F"/>
                </a:solidFill>
                <a:latin typeface="Calibri"/>
              </a:rPr>
              <a:t>I shipped the smaller model on purpose.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94560"/>
            <a:ext cx="5120640" cy="1965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E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8B919D"/>
                </a:solidFill>
                <a:latin typeface="Consolas"/>
              </a:rPr>
              <a:t>REJECTED AS PRIMARY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24912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6181F"/>
                </a:solidFill>
                <a:latin typeface="Consolas"/>
              </a:rPr>
              <a:t>Llama 3.1 70B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91840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B919D"/>
                </a:solidFill>
                <a:latin typeface="Consolas"/>
              </a:rPr>
              <a:t>latency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329184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81F"/>
                </a:solidFill>
                <a:latin typeface="Calibri"/>
              </a:rPr>
              <a:t>9s–46s, inconsistent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602736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B919D"/>
                </a:solidFill>
                <a:latin typeface="Consolas"/>
              </a:rPr>
              <a:t>reliability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602736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81F"/>
                </a:solidFill>
                <a:latin typeface="Calibri"/>
              </a:rPr>
              <a:t>cold-starts, timeouts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913632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B919D"/>
                </a:solidFill>
                <a:latin typeface="Consolas"/>
              </a:rPr>
              <a:t>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391363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81F"/>
                </a:solidFill>
                <a:latin typeface="Calibri"/>
              </a:rPr>
              <a:t>marginally higher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94560"/>
            <a:ext cx="5120640" cy="1965960"/>
          </a:xfrm>
          <a:prstGeom prst="roundRect">
            <a:avLst>
              <a:gd name="adj" fmla="val 4500"/>
            </a:avLst>
          </a:prstGeom>
          <a:solidFill>
            <a:srgbClr val="FBEFEA"/>
          </a:solidFill>
          <a:ln w="1778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59" y="237744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2410C"/>
                </a:solidFill>
                <a:latin typeface="Consolas"/>
              </a:rPr>
              <a:t>SHIPPED AS PRIMARY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2724912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6181F"/>
                </a:solidFill>
                <a:latin typeface="Consolas"/>
              </a:rPr>
              <a:t>Llama 3.1 8B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3291840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B919D"/>
                </a:solidFill>
                <a:latin typeface="Consolas"/>
              </a:rPr>
              <a:t>latency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329184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81F"/>
                </a:solidFill>
                <a:latin typeface="Calibri"/>
              </a:rPr>
              <a:t>~2.5s, consistent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59" y="3602736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B919D"/>
                </a:solidFill>
                <a:latin typeface="Consolas"/>
              </a:rPr>
              <a:t>reliability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3602736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81F"/>
                </a:solidFill>
                <a:latin typeface="Calibri"/>
              </a:rPr>
              <a:t>steady across runs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59" y="3913632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B919D"/>
                </a:solidFill>
                <a:latin typeface="Consolas"/>
              </a:rPr>
              <a:t>quality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391363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81F"/>
                </a:solidFill>
                <a:latin typeface="Calibri"/>
              </a:rPr>
              <a:t>comparable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4617720"/>
            <a:ext cx="54864" cy="137160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681728"/>
            <a:ext cx="102412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6181F"/>
                </a:solidFill>
                <a:latin typeface="Calibri"/>
              </a:rPr>
              <a:t>Model quality is an </a:t>
            </a:r>
            <a:r>
              <a:rPr sz="1800" b="1">
                <a:solidFill>
                  <a:srgbClr val="C2410C"/>
                </a:solidFill>
                <a:latin typeface="Calibri"/>
              </a:rPr>
              <a:t>input</a:t>
            </a:r>
            <a:r>
              <a:rPr sz="1800" b="0">
                <a:solidFill>
                  <a:srgbClr val="16181F"/>
                </a:solidFill>
                <a:latin typeface="Calibri"/>
              </a:rPr>
              <a:t> to product value, not the goal. A demo that always works in two seconds beats a “smarter” one that sometimes hangs — reliability builds trust faster than marginal accuracy.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C2410C"/>
                </a:solidFill>
                <a:latin typeface="Consolas"/>
              </a:rPr>
              <a:t>06 · HOW I'D MEASURE SUCCESS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6181F"/>
                </a:solidFill>
                <a:latin typeface="Calibri"/>
              </a:rPr>
              <a:t>One north star, a funnel beneath it, guardrails around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94560"/>
            <a:ext cx="10561320" cy="1143000"/>
          </a:xfrm>
          <a:prstGeom prst="roundRect">
            <a:avLst>
              <a:gd name="adj" fmla="val 4500"/>
            </a:avLst>
          </a:prstGeom>
          <a:solidFill>
            <a:srgbClr val="FBEFEA"/>
          </a:solidFill>
          <a:ln w="1778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3317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2410C"/>
                </a:solidFill>
                <a:latin typeface="Consolas"/>
              </a:rPr>
              <a:t>NORTH-STAR METRIC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517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6181F"/>
                </a:solidFill>
                <a:latin typeface="Calibri"/>
              </a:rPr>
              <a:t>Commitment Completion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9067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16E"/>
                </a:solidFill>
                <a:latin typeface="Calibri"/>
              </a:rPr>
              <a:t>Of the action items surfaced, what share actually get done? Everything else is a proxy.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11880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B919D"/>
                </a:solidFill>
                <a:latin typeface="Consolas"/>
              </a:rPr>
              <a:t>INPUT METRICS — THE FUNNEL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77639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2410C"/>
                </a:solidFill>
                <a:latin typeface="Calibri"/>
              </a:rPr>
              <a:t>•  </a:t>
            </a:r>
            <a:r>
              <a:rPr sz="1350" b="0">
                <a:solidFill>
                  <a:srgbClr val="5A616E"/>
                </a:solidFill>
                <a:latin typeface="Calibri"/>
              </a:rPr>
              <a:t>Activation: % sessions that extract → distribute ≥1 item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361688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2410C"/>
                </a:solidFill>
                <a:latin typeface="Calibri"/>
              </a:rPr>
              <a:t>•  </a:t>
            </a:r>
            <a:r>
              <a:rPr sz="1350" b="0">
                <a:solidFill>
                  <a:srgbClr val="5A616E"/>
                </a:solidFill>
                <a:latin typeface="Calibri"/>
              </a:rPr>
              <a:t>Time-to-value: seconds paste → first send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745736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2410C"/>
                </a:solidFill>
                <a:latin typeface="Calibri"/>
              </a:rPr>
              <a:t>•  </a:t>
            </a:r>
            <a:r>
              <a:rPr sz="1350" b="0">
                <a:solidFill>
                  <a:srgbClr val="5A616E"/>
                </a:solidFill>
                <a:latin typeface="Calibri"/>
              </a:rPr>
              <a:t>Extraction quality: precision / recall vs. eval 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129783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2410C"/>
                </a:solidFill>
                <a:latin typeface="Calibri"/>
              </a:rPr>
              <a:t>•  </a:t>
            </a:r>
            <a:r>
              <a:rPr sz="1350" b="0">
                <a:solidFill>
                  <a:srgbClr val="5A616E"/>
                </a:solidFill>
                <a:latin typeface="Calibri"/>
              </a:rPr>
              <a:t>Retention: repeat use / week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361188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B919D"/>
                </a:solidFill>
                <a:latin typeface="Consolas"/>
              </a:rPr>
              <a:t>GUARDRAIL METRICS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3977639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2410C"/>
                </a:solidFill>
                <a:latin typeface="Calibri"/>
              </a:rPr>
              <a:t>•  </a:t>
            </a:r>
            <a:r>
              <a:rPr sz="1350" b="0">
                <a:solidFill>
                  <a:srgbClr val="5A616E"/>
                </a:solidFill>
                <a:latin typeface="Calibri"/>
              </a:rPr>
              <a:t>Hallucination rate (invented items)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4361688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2410C"/>
                </a:solidFill>
                <a:latin typeface="Calibri"/>
              </a:rPr>
              <a:t>•  </a:t>
            </a:r>
            <a:r>
              <a:rPr sz="1350" b="0">
                <a:solidFill>
                  <a:srgbClr val="5A616E"/>
                </a:solidFill>
                <a:latin typeface="Calibri"/>
              </a:rPr>
              <a:t>Edit rate (proxy for accuracy)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4745736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2410C"/>
                </a:solidFill>
                <a:latin typeface="Calibri"/>
              </a:rPr>
              <a:t>•  </a:t>
            </a:r>
            <a:r>
              <a:rPr sz="1350" b="0">
                <a:solidFill>
                  <a:srgbClr val="5A616E"/>
                </a:solidFill>
                <a:latin typeface="Calibri"/>
              </a:rPr>
              <a:t>Error / failure rate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C2410C"/>
                </a:solidFill>
                <a:latin typeface="Consolas"/>
              </a:rPr>
              <a:t>07 · MAKING AI DECISIONS RIGOROUSLY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6181F"/>
                </a:solidFill>
                <a:latin typeface="Calibri"/>
              </a:rPr>
              <a:t>Vibes don't scale. Evals 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C2410C"/>
                </a:solidFill>
                <a:latin typeface="Consolas"/>
              </a:rPr>
              <a:t>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359152"/>
            <a:ext cx="4480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16E"/>
                </a:solidFill>
                <a:latin typeface="Calibri"/>
              </a:rPr>
              <a:t>Build a golden eval set: labelled transcripts with the “true” decisions and action items.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747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C2410C"/>
                </a:solidFill>
                <a:latin typeface="Consolas"/>
              </a:rPr>
              <a:t>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3456432"/>
            <a:ext cx="4480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16E"/>
                </a:solidFill>
                <a:latin typeface="Calibri"/>
              </a:rPr>
              <a:t>Measure precision (did we invent tasks?), recall (did we miss commitments?), and field accuracy.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C2410C"/>
                </a:solidFill>
                <a:latin typeface="Consolas"/>
              </a:rPr>
              <a:t>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4553712"/>
            <a:ext cx="4480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16E"/>
                </a:solidFill>
                <a:latin typeface="Calibri"/>
              </a:rPr>
              <a:t>That's how I'd choose 8B vs 70B, catch regressions, and set a launch quality bar — not by gut.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331720"/>
            <a:ext cx="4846320" cy="3200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E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80" y="2542032"/>
            <a:ext cx="4297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2410C"/>
                </a:solidFill>
                <a:latin typeface="Consolas"/>
              </a:rPr>
              <a:t>THE COMPOUNDING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2907792"/>
            <a:ext cx="4297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6181F"/>
                </a:solidFill>
                <a:latin typeface="Calibri"/>
              </a:rPr>
              <a:t>Every edit is a label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3474720"/>
            <a:ext cx="42976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616E"/>
                </a:solidFill>
                <a:latin typeface="Calibri"/>
              </a:rPr>
              <a:t>Users correct the extracted items before sending. Those corrections are free, in-domain training data → fine-tune on accepted output → org-specific accuracy competitors can't match without the same data. The eval loop becomes the moat.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C2410C"/>
                </a:solidFill>
                <a:latin typeface="Consolas"/>
              </a:rPr>
              <a:t>08 · PRIORITIZATION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6181F"/>
                </a:solidFill>
                <a:latin typeface="Calibri"/>
              </a:rPr>
              <a:t>What I deliberately left out — and why that's the point.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A616E"/>
                </a:solidFill>
                <a:latin typeface="Calibri"/>
              </a:rPr>
              <a:t>MVP scope is a hypothesis test, not a feature checklist. I cut everything not needed to validate one thing: will people extract, then actually distribute?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926080"/>
            <a:ext cx="5120640" cy="14630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E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3090672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2410C"/>
                </a:solidFill>
                <a:latin typeface="Consolas"/>
              </a:rPr>
              <a:t>CUT · PERSISTENCE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3429000"/>
            <a:ext cx="46177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16E"/>
                </a:solidFill>
                <a:latin typeface="Calibri"/>
              </a:rPr>
              <a:t>No database. A refresh clears everything — and “no data stored” removes privacy friction for testers.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926080"/>
            <a:ext cx="5120640" cy="14630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E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3090672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2410C"/>
                </a:solidFill>
                <a:latin typeface="Consolas"/>
              </a:rPr>
              <a:t>CUT · REAL INTEGRATIONS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3429000"/>
            <a:ext cx="46177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16E"/>
                </a:solidFill>
                <a:latin typeface="Calibri"/>
              </a:rPr>
              <a:t>The URL-prefill trick proves value without OAuth. Real APIs are a scaling investment, made once the loop is proven.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526280"/>
            <a:ext cx="5120640" cy="14630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E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4690872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2410C"/>
                </a:solidFill>
                <a:latin typeface="Consolas"/>
              </a:rPr>
              <a:t>CUT · ACCOUNTS &amp; TEAMS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5029200"/>
            <a:ext cx="46177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16E"/>
                </a:solidFill>
                <a:latin typeface="Calibri"/>
              </a:rPr>
              <a:t>Single-session, no login. Multi-user is a growth concern, not a validation one.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4526280"/>
            <a:ext cx="5120640" cy="14630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E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9672" y="4690872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2410C"/>
                </a:solidFill>
                <a:latin typeface="Consolas"/>
              </a:rPr>
              <a:t>KEPT · THE CORE LOOP + TRUST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5029200"/>
            <a:ext cx="46177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16E"/>
                </a:solidFill>
                <a:latin typeface="Calibri"/>
              </a:rPr>
              <a:t>Extraction reliability, one-click distribution, honest guardrails, 100%-tested logic.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C2410C"/>
                </a:solidFill>
                <a:latin typeface="Consolas"/>
              </a:rPr>
              <a:t>09 · ROADMAP &amp; MOAT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6181F"/>
                </a:solidFill>
                <a:latin typeface="Calibri"/>
              </a:rPr>
              <a:t>From a one-click helper to the system of record for follow-through.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429000" cy="23774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778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246888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2410C"/>
                </a:solidFill>
                <a:latin typeface="Consolas"/>
              </a:rPr>
              <a:t>NOW · VALIDATE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" y="2816352"/>
            <a:ext cx="3017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6181F"/>
                </a:solidFill>
                <a:latin typeface="Calibri"/>
              </a:rPr>
              <a:t>The core loop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" y="3310128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2410C"/>
                </a:solidFill>
                <a:latin typeface="Calibri"/>
              </a:rPr>
              <a:t>•  </a:t>
            </a:r>
            <a:r>
              <a:rPr sz="1250" b="0">
                <a:solidFill>
                  <a:srgbClr val="5A616E"/>
                </a:solidFill>
                <a:latin typeface="Calibri"/>
              </a:rPr>
              <a:t>Paste → extract → distribute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3730752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2410C"/>
                </a:solidFill>
                <a:latin typeface="Calibri"/>
              </a:rPr>
              <a:t>•  </a:t>
            </a:r>
            <a:r>
              <a:rPr sz="1250" b="0">
                <a:solidFill>
                  <a:srgbClr val="5A616E"/>
                </a:solidFill>
                <a:latin typeface="Calibri"/>
              </a:rPr>
              <a:t>Zero setup, no OAuth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" y="4151376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2410C"/>
                </a:solidFill>
                <a:latin typeface="Calibri"/>
              </a:rPr>
              <a:t>•  </a:t>
            </a:r>
            <a:r>
              <a:rPr sz="1250" b="0">
                <a:solidFill>
                  <a:srgbClr val="5A616E"/>
                </a:solidFill>
                <a:latin typeface="Calibri"/>
              </a:rPr>
              <a:t>Reliable structured output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2286000"/>
            <a:ext cx="3429000" cy="23774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E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72584" y="246888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2410C"/>
                </a:solidFill>
                <a:latin typeface="Consolas"/>
              </a:rPr>
              <a:t>NEXT · AUTO-CAPTURE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2584" y="2816352"/>
            <a:ext cx="3017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6181F"/>
                </a:solidFill>
                <a:latin typeface="Calibri"/>
              </a:rPr>
              <a:t>Capture everywhere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2584" y="3310128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2410C"/>
                </a:solidFill>
                <a:latin typeface="Calibri"/>
              </a:rPr>
              <a:t>•  </a:t>
            </a:r>
            <a:r>
              <a:rPr sz="1250" b="0">
                <a:solidFill>
                  <a:srgbClr val="5A616E"/>
                </a:solidFill>
                <a:latin typeface="Calibri"/>
              </a:rPr>
              <a:t>Extension + AI notetaker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2584" y="3730752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2410C"/>
                </a:solidFill>
                <a:latin typeface="Calibri"/>
              </a:rPr>
              <a:t>•  </a:t>
            </a:r>
            <a:r>
              <a:rPr sz="1250" b="0">
                <a:solidFill>
                  <a:srgbClr val="5A616E"/>
                </a:solidFill>
                <a:latin typeface="Calibri"/>
              </a:rPr>
              <a:t>Auto-joins Zoom / Teams / Meet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2584" y="4151376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2410C"/>
                </a:solidFill>
                <a:latin typeface="Calibri"/>
              </a:rPr>
              <a:t>•  </a:t>
            </a:r>
            <a:r>
              <a:rPr sz="1250" b="0">
                <a:solidFill>
                  <a:srgbClr val="5A616E"/>
                </a:solidFill>
                <a:latin typeface="Calibri"/>
              </a:rPr>
              <a:t>Native Gmail, Outlook, Calendar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2286000"/>
            <a:ext cx="3429000" cy="23774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E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84464" y="246888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2410C"/>
                </a:solidFill>
                <a:latin typeface="Consolas"/>
              </a:rPr>
              <a:t>LATER · OWN THE OUTCOME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4" y="2816352"/>
            <a:ext cx="3017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6181F"/>
                </a:solidFill>
                <a:latin typeface="Calibri"/>
              </a:rPr>
              <a:t>Proactive follow-through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4" y="3310128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2410C"/>
                </a:solidFill>
                <a:latin typeface="Calibri"/>
              </a:rPr>
              <a:t>•  </a:t>
            </a:r>
            <a:r>
              <a:rPr sz="1250" b="0">
                <a:solidFill>
                  <a:srgbClr val="5A616E"/>
                </a:solidFill>
                <a:latin typeface="Calibri"/>
              </a:rPr>
              <a:t>Persistence + team workspaces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3730752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2410C"/>
                </a:solidFill>
                <a:latin typeface="Calibri"/>
              </a:rPr>
              <a:t>•  </a:t>
            </a:r>
            <a:r>
              <a:rPr sz="1250" b="0">
                <a:solidFill>
                  <a:srgbClr val="5A616E"/>
                </a:solidFill>
                <a:latin typeface="Calibri"/>
              </a:rPr>
              <a:t>Nudges: “did you ship X?”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4151376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2410C"/>
                </a:solidFill>
                <a:latin typeface="Calibri"/>
              </a:rPr>
              <a:t>•  </a:t>
            </a:r>
            <a:r>
              <a:rPr sz="1250" b="0">
                <a:solidFill>
                  <a:srgbClr val="5A616E"/>
                </a:solidFill>
                <a:latin typeface="Calibri"/>
              </a:rPr>
              <a:t>Completion tracking → closes the loop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4937760"/>
            <a:ext cx="54864" cy="100584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992624"/>
            <a:ext cx="102412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6181F"/>
                </a:solidFill>
                <a:latin typeface="Calibri"/>
              </a:rPr>
              <a:t>Moat = the feedback loop. Accepted &amp; edited action items become proprietary training data → accuracy that compounds with usage.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C2410C"/>
                </a:solidFill>
                <a:latin typeface="Consolas"/>
              </a:rPr>
              <a:t>10 · WHY THIS MATTERS FOR THE ROLE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6181F"/>
                </a:solidFill>
                <a:latin typeface="Calibri"/>
              </a:rPr>
              <a:t>I don't just use AI tools. I make product decisions about them.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23160"/>
            <a:ext cx="3611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181F"/>
                </a:solidFill>
                <a:latin typeface="Calibri"/>
              </a:rPr>
              <a:t>Problem framing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07208"/>
            <a:ext cx="36118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16E"/>
                </a:solidFill>
                <a:latin typeface="Calibri"/>
              </a:rPr>
              <a:t>Found the non-obvious wedge — the last mile, not capture; friction, not model size.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45152" y="2423160"/>
            <a:ext cx="3611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181F"/>
                </a:solidFill>
                <a:latin typeface="Calibri"/>
              </a:rPr>
              <a:t>AI judgment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5152" y="2807208"/>
            <a:ext cx="36118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16E"/>
                </a:solidFill>
                <a:latin typeface="Calibri"/>
              </a:rPr>
              <a:t>Model tradeoffs, evals, guardrails, graceful degradation — decisions, with reasons.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67344" y="2423160"/>
            <a:ext cx="3611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181F"/>
                </a:solidFill>
                <a:latin typeface="Calibri"/>
              </a:rPr>
              <a:t>Metrics rigor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67344" y="2807208"/>
            <a:ext cx="36118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16E"/>
                </a:solidFill>
                <a:latin typeface="Calibri"/>
              </a:rPr>
              <a:t>A north star, an input funnel, and guardrails — measurement designed 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94760"/>
            <a:ext cx="3611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181F"/>
                </a:solidFill>
                <a:latin typeface="Calibri"/>
              </a:rPr>
              <a:t>Prioritization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178808"/>
            <a:ext cx="36118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16E"/>
                </a:solidFill>
                <a:latin typeface="Calibri"/>
              </a:rPr>
              <a:t>Scoped an MVP as a hypothesis test; cut with intent; shipped what de-risks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3794760"/>
            <a:ext cx="3611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181F"/>
                </a:solidFill>
                <a:latin typeface="Calibri"/>
              </a:rPr>
              <a:t>Vision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4178808"/>
            <a:ext cx="36118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16E"/>
                </a:solidFill>
                <a:latin typeface="Calibri"/>
              </a:rPr>
              <a:t>A credible path from a one-click tool to a defensible product with a data moat.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67344" y="3794760"/>
            <a:ext cx="3611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181F"/>
                </a:solidFill>
                <a:latin typeface="Calibri"/>
              </a:rPr>
              <a:t>End-to-end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7344" y="4178808"/>
            <a:ext cx="36118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16E"/>
                </a:solidFill>
                <a:latin typeface="Calibri"/>
              </a:rPr>
              <a:t>Built, tested (100% coverage), and deployed it solo — insight to live URL.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39496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181F"/>
                </a:solidFill>
                <a:latin typeface="Calibri"/>
              </a:rPr>
              <a:t>Shubham Mittal</a:t>
            </a:r>
            <a:r>
              <a:rPr sz="1250" b="0">
                <a:solidFill>
                  <a:srgbClr val="8B919D"/>
                </a:solidFill>
                <a:latin typeface="Consolas"/>
              </a:rPr>
              <a:t>   ·   postmeet.onrender.com   ·   shubham-33.github.io/postmeet/case-study/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